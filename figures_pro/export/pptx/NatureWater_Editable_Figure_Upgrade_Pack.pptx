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81B4A"/>
                </a:solidFill>
              </a:defRPr>
            </a:pPr>
            <a:r>
              <a:t>FIGURE 1 | DYNAMIC GROUNDWATER REVIEW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081B4A"/>
                </a:solidFill>
              </a:defRPr>
            </a:pPr>
            <a:r>
              <a:t>Editable 3D mechanism storyboard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11521440" cy="5440680"/>
          </a:xfrm>
          <a:prstGeom prst="roundRect">
            <a:avLst/>
          </a:prstGeom>
          <a:solidFill>
            <a:srgbClr val="F8FAFE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81B4A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2926080" cy="1143000"/>
          </a:xfrm>
          <a:prstGeom prst="roundRect">
            <a:avLst/>
          </a:prstGeom>
          <a:solidFill>
            <a:srgbClr val="2467AE"/>
          </a:solidFill>
          <a:ln>
            <a:solidFill>
              <a:srgbClr val="24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3D aquifer</a:t>
            </a:r>
            <a:br/>
            <a:r>
              <a:t>water-table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234440"/>
            <a:ext cx="2194560" cy="914400"/>
          </a:xfrm>
          <a:prstGeom prst="roundRect">
            <a:avLst/>
          </a:prstGeom>
          <a:solidFill>
            <a:srgbClr val="2F9EB0"/>
          </a:solidFill>
          <a:ln>
            <a:solidFill>
              <a:srgbClr val="2F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GRACE</a:t>
            </a:r>
            <a:br/>
            <a:r>
              <a:t>regional storage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234440"/>
            <a:ext cx="2103120" cy="914400"/>
          </a:xfrm>
          <a:prstGeom prst="roundRect">
            <a:avLst/>
          </a:prstGeom>
          <a:solidFill>
            <a:srgbClr val="C84C3A"/>
          </a:solidFill>
          <a:ln>
            <a:solidFill>
              <a:srgbClr val="C8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Zhu model</a:t>
            </a:r>
            <a:br/>
            <a:r>
              <a:t>WTD term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234440"/>
            <a:ext cx="1920240" cy="914400"/>
          </a:xfrm>
          <a:prstGeom prst="roundRect">
            <a:avLst/>
          </a:prstGeom>
          <a:solidFill>
            <a:srgbClr val="2E7D3A"/>
          </a:solidFill>
          <a:ln>
            <a:solidFill>
              <a:srgbClr val="2E7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local review</a:t>
            </a:r>
            <a:br/>
            <a:r>
              <a:t>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49039"/>
            <a:ext cx="10424160" cy="1097280"/>
          </a:xfrm>
          <a:prstGeom prst="roundRect">
            <a:avLst/>
          </a:prstGeom>
          <a:solidFill>
            <a:srgbClr val="EEF5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1B4A"/>
                </a:solidFill>
              </a:defRPr>
            </a:pPr>
            <a:r>
              <a:t>recharge -&gt; shallower WTD -&gt; P_liq up     |     depletion -&gt; deeper WTD -&gt; P_liq down but subsidence/water-security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05332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E6A7D"/>
                </a:solidFill>
              </a:defRPr>
            </a:pPr>
            <a:r>
              <a:t>Editable storyboard: shapes and text can be modified in PowerPoint; final publication figures are vector SVG/PDF.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81B4A"/>
                </a:solidFill>
              </a:defRPr>
            </a:pPr>
            <a:r>
              <a:t>FIGURE 2 | GLOBAL NULL, REGIONAL PAYLOAD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081B4A"/>
                </a:solidFill>
              </a:defRPr>
            </a:pPr>
            <a:r>
              <a:t>Counts and regional hierarchy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11521440" cy="5440680"/>
          </a:xfrm>
          <a:prstGeom prst="roundRect">
            <a:avLst/>
          </a:prstGeom>
          <a:solidFill>
            <a:srgbClr val="F8FAFE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81B4A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1280160" cy="640080"/>
          </a:xfrm>
          <a:prstGeom prst="roundRect">
            <a:avLst/>
          </a:prstGeom>
          <a:solidFill>
            <a:srgbClr val="081B4A"/>
          </a:solidFill>
          <a:ln>
            <a:solidFill>
              <a:srgbClr val="081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4028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1B4A"/>
                </a:solidFill>
              </a:defRPr>
            </a:pPr>
            <a:r>
              <a:t>city markers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508760"/>
            <a:ext cx="1280160" cy="640080"/>
          </a:xfrm>
          <a:prstGeom prst="roundRect">
            <a:avLst/>
          </a:prstGeom>
          <a:solidFill>
            <a:srgbClr val="2467AE"/>
          </a:solidFill>
          <a:ln>
            <a:solidFill>
              <a:srgbClr val="24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224028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1B4A"/>
                </a:solidFill>
              </a:defRPr>
            </a:pPr>
            <a:r>
              <a:t>detectable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508760"/>
            <a:ext cx="1280160" cy="640080"/>
          </a:xfrm>
          <a:prstGeom prst="roundRect">
            <a:avLst/>
          </a:prstGeom>
          <a:solidFill>
            <a:srgbClr val="D86B20"/>
          </a:solidFill>
          <a:ln>
            <a:solidFill>
              <a:srgbClr val="D8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8928" y="224028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1B4A"/>
                </a:solidFill>
              </a:defRPr>
            </a:pPr>
            <a:r>
              <a:t>A/B units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508760"/>
            <a:ext cx="1280160" cy="640080"/>
          </a:xfrm>
          <a:prstGeom prst="roundRect">
            <a:avLst/>
          </a:prstGeom>
          <a:solidFill>
            <a:srgbClr val="2F9EB0"/>
          </a:solidFill>
          <a:ln>
            <a:solidFill>
              <a:srgbClr val="2F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21/22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9208" y="224028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1B4A"/>
                </a:solidFill>
              </a:defRPr>
            </a:pPr>
            <a:r>
              <a:t>metro/GHSL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508760"/>
            <a:ext cx="1280160" cy="640080"/>
          </a:xfrm>
          <a:prstGeom prst="roundRect">
            <a:avLst/>
          </a:prstGeom>
          <a:solidFill>
            <a:srgbClr val="2E7D3A"/>
          </a:solidFill>
          <a:ln>
            <a:solidFill>
              <a:srgbClr val="2E7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19488" y="224028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1B4A"/>
                </a:solidFill>
              </a:defRPr>
            </a:pPr>
            <a:r>
              <a:t>regional groups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57600"/>
            <a:ext cx="10424160" cy="914400"/>
          </a:xfrm>
          <a:prstGeom prst="roundRect">
            <a:avLst/>
          </a:prstGeom>
          <a:solidFill>
            <a:srgbClr val="EAF5E8"/>
          </a:solidFill>
          <a:ln>
            <a:solidFill>
              <a:srgbClr val="B8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081B4A"/>
                </a:solidFill>
              </a:defRPr>
            </a:pPr>
            <a:r>
              <a:t>Global mean near zero; geographic null p = 1.00. The useful result is regional and bidirectional.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05332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E6A7D"/>
                </a:solidFill>
              </a:defRPr>
            </a:pPr>
            <a:r>
              <a:t>Editable storyboard: shapes and text can be modified in PowerPoint; final publication figures are vector SVG/PDF.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81B4A"/>
                </a:solidFill>
              </a:defRPr>
            </a:pPr>
            <a:r>
              <a:t>FIGURE 3 | EVIDENCE-TIER REGIONAL ARENA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081B4A"/>
                </a:solidFill>
              </a:defRPr>
            </a:pPr>
            <a:r>
              <a:t>Five evidence classes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11521440" cy="5440680"/>
          </a:xfrm>
          <a:prstGeom prst="roundRect">
            <a:avLst/>
          </a:prstGeom>
          <a:solidFill>
            <a:srgbClr val="F8FAFE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81B4A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9659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B4A"/>
                </a:solidFill>
              </a:defRPr>
            </a:pPr>
            <a:r>
              <a:t>North China Plain / Beijing-Tianjin-Hebei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4480560"/>
            <a:ext cx="1664208" cy="457200"/>
          </a:xfrm>
          <a:prstGeom prst="roundRect">
            <a:avLst/>
          </a:prstGeom>
          <a:solidFill>
            <a:srgbClr val="2E7D3A"/>
          </a:solidFill>
          <a:ln>
            <a:solidFill>
              <a:srgbClr val="2E7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anchor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325880"/>
            <a:ext cx="19659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B4A"/>
                </a:solidFill>
              </a:defRPr>
            </a:pPr>
            <a:r>
              <a:t>Tokyo Bay / Yokohama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72384" y="4480560"/>
            <a:ext cx="1664208" cy="457200"/>
          </a:xfrm>
          <a:prstGeom prst="roundRect">
            <a:avLst/>
          </a:prstGeom>
          <a:solidFill>
            <a:srgbClr val="2F9EB0"/>
          </a:solidFill>
          <a:ln>
            <a:solidFill>
              <a:srgbClr val="2F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93792" y="1325880"/>
            <a:ext cx="19659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B4A"/>
                </a:solidFill>
              </a:defRPr>
            </a:pPr>
            <a:r>
              <a:t>Mumbai-Bhayandar / Mumbai coast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0096" y="4480560"/>
            <a:ext cx="1664208" cy="457200"/>
          </a:xfrm>
          <a:prstGeom prst="roundRect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candidate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1504" y="1325880"/>
            <a:ext cx="19659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B4A"/>
                </a:solidFill>
              </a:defRPr>
            </a:pPr>
            <a:r>
              <a:t>Delhi / New Delhi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4480560"/>
            <a:ext cx="1664208" cy="457200"/>
          </a:xfrm>
          <a:prstGeom prst="roundRect">
            <a:avLst/>
          </a:prstGeom>
          <a:solidFill>
            <a:srgbClr val="2467AE"/>
          </a:solidFill>
          <a:ln>
            <a:solidFill>
              <a:srgbClr val="24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material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29216" y="1325880"/>
            <a:ext cx="19659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B4A"/>
                </a:solidFill>
              </a:defRPr>
            </a:pPr>
            <a:r>
              <a:t>Lahore / Punjab belt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4480560"/>
            <a:ext cx="1664208" cy="457200"/>
          </a:xfrm>
          <a:prstGeom prst="roundRect">
            <a:avLst/>
          </a:prstGeom>
          <a:solidFill>
            <a:srgbClr val="C84C3A"/>
          </a:solidFill>
          <a:ln>
            <a:solidFill>
              <a:srgbClr val="C8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05332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E6A7D"/>
                </a:solidFill>
              </a:defRPr>
            </a:pPr>
            <a:r>
              <a:t>Editable storyboard: shapes and text can be modified in PowerPoint; final publication figures are vector SVG/PDF.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81B4A"/>
                </a:solidFill>
              </a:defRPr>
            </a:pPr>
            <a:r>
              <a:t>FIGURE 4 | PRODUCT-CONSENSUS GUARDRAIL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081B4A"/>
                </a:solidFill>
              </a:defRPr>
            </a:pPr>
            <a:r>
              <a:t>CSR / GSFC / GFZ / JPL / Local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11521440" cy="5440680"/>
          </a:xfrm>
          <a:prstGeom prst="roundRect">
            <a:avLst/>
          </a:prstGeom>
          <a:solidFill>
            <a:srgbClr val="F8FAFE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81B4A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9659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B4A"/>
                </a:solidFill>
              </a:defRPr>
            </a:pPr>
            <a:r>
              <a:t>NCP / Beijing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4480560"/>
            <a:ext cx="1664208" cy="457200"/>
          </a:xfrm>
          <a:prstGeom prst="roundRect">
            <a:avLst/>
          </a:prstGeom>
          <a:solidFill>
            <a:srgbClr val="2E7D3A"/>
          </a:solidFill>
          <a:ln>
            <a:solidFill>
              <a:srgbClr val="2E7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CSR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325880"/>
            <a:ext cx="19659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B4A"/>
                </a:solidFill>
              </a:defRPr>
            </a:pPr>
            <a:r>
              <a:t>Tokyo Bay / Yokohama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72384" y="4480560"/>
            <a:ext cx="1664208" cy="457200"/>
          </a:xfrm>
          <a:prstGeom prst="roundRect">
            <a:avLst/>
          </a:prstGeom>
          <a:solidFill>
            <a:srgbClr val="2F9EB0"/>
          </a:solidFill>
          <a:ln>
            <a:solidFill>
              <a:srgbClr val="2F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GSFC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93792" y="1325880"/>
            <a:ext cx="19659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B4A"/>
                </a:solidFill>
              </a:defRPr>
            </a:pPr>
            <a:r>
              <a:t>Mumbai / Bhayandar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0096" y="4480560"/>
            <a:ext cx="1664208" cy="457200"/>
          </a:xfrm>
          <a:prstGeom prst="roundRect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GFZ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1504" y="1325880"/>
            <a:ext cx="19659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B4A"/>
                </a:solidFill>
              </a:defRPr>
            </a:pPr>
            <a:r>
              <a:t>Delhi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4480560"/>
            <a:ext cx="1664208" cy="457200"/>
          </a:xfrm>
          <a:prstGeom prst="roundRect">
            <a:avLst/>
          </a:prstGeom>
          <a:solidFill>
            <a:srgbClr val="2467AE"/>
          </a:solidFill>
          <a:ln>
            <a:solidFill>
              <a:srgbClr val="24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JPL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29216" y="1325880"/>
            <a:ext cx="19659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B4A"/>
                </a:solidFill>
              </a:defRPr>
            </a:pPr>
            <a:r>
              <a:t>Lahore / Punjab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4480560"/>
            <a:ext cx="1664208" cy="457200"/>
          </a:xfrm>
          <a:prstGeom prst="roundRect">
            <a:avLst/>
          </a:prstGeom>
          <a:solidFill>
            <a:srgbClr val="C84C3A"/>
          </a:solidFill>
          <a:ln>
            <a:solidFill>
              <a:srgbClr val="C8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05332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E6A7D"/>
                </a:solidFill>
              </a:defRPr>
            </a:pPr>
            <a:r>
              <a:t>Editable storyboard: shapes and text can be modified in PowerPoint; final publication figures are vector SVG/PDF.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81B4A"/>
                </a:solidFill>
              </a:defRPr>
            </a:pPr>
            <a:r>
              <a:t>FIGURE 5 | AQUIFER-CLASS S_y PHASE ARENA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081B4A"/>
                </a:solidFill>
              </a:defRPr>
            </a:pPr>
            <a:r>
              <a:t>S_y controls materiality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11521440" cy="5440680"/>
          </a:xfrm>
          <a:prstGeom prst="roundRect">
            <a:avLst/>
          </a:prstGeom>
          <a:solidFill>
            <a:srgbClr val="F8FAFE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81B4A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81B4A"/>
                </a:solidFill>
              </a:defRPr>
            </a:pPr>
            <a:r>
              <a:t>Yokohama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170432"/>
            <a:ext cx="5486400" cy="201168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081B4A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800600" y="1115568"/>
            <a:ext cx="320040" cy="320040"/>
          </a:xfrm>
          <a:prstGeom prst="roundRect">
            <a:avLst/>
          </a:prstGeom>
          <a:solidFill>
            <a:srgbClr val="C84C3A"/>
          </a:solidFill>
          <a:ln>
            <a:solidFill>
              <a:srgbClr val="C8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81B4A"/>
                </a:solidFill>
              </a:defRPr>
            </a:pPr>
            <a:r>
              <a:t>Bhayandar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856232"/>
            <a:ext cx="5486400" cy="201168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081B4A"/>
                </a:solidFill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4800600" y="1801368"/>
            <a:ext cx="320040" cy="320040"/>
          </a:xfrm>
          <a:prstGeom prst="roundRect">
            <a:avLst/>
          </a:prstGeom>
          <a:solidFill>
            <a:srgbClr val="C84C3A"/>
          </a:solidFill>
          <a:ln>
            <a:solidFill>
              <a:srgbClr val="C8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81B4A"/>
                </a:solidFill>
              </a:defRPr>
            </a:pPr>
            <a:r>
              <a:t>Mumbai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542032"/>
            <a:ext cx="5486400" cy="201168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081B4A"/>
                </a:solidFill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4800600" y="2487168"/>
            <a:ext cx="320040" cy="320040"/>
          </a:xfrm>
          <a:prstGeom prst="roundRect">
            <a:avLst/>
          </a:prstGeom>
          <a:solidFill>
            <a:srgbClr val="C84C3A"/>
          </a:solidFill>
          <a:ln>
            <a:solidFill>
              <a:srgbClr val="C8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81B4A"/>
                </a:solidFill>
              </a:defRPr>
            </a:pPr>
            <a:r>
              <a:t>Delhi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3227832"/>
            <a:ext cx="5486400" cy="201168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081B4A"/>
                </a:solidFill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4800600" y="3172968"/>
            <a:ext cx="320040" cy="320040"/>
          </a:xfrm>
          <a:prstGeom prst="roundRect">
            <a:avLst/>
          </a:prstGeom>
          <a:solidFill>
            <a:srgbClr val="2467AE"/>
          </a:solidFill>
          <a:ln>
            <a:solidFill>
              <a:srgbClr val="24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81B4A"/>
                </a:solidFill>
              </a:defRPr>
            </a:pPr>
            <a:r>
              <a:t>Lahore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3913632"/>
            <a:ext cx="5486400" cy="201168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081B4A"/>
                </a:solidFill>
              </a:defRPr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4800600" y="3858768"/>
            <a:ext cx="320040" cy="320040"/>
          </a:xfrm>
          <a:prstGeom prst="roundRect">
            <a:avLst/>
          </a:prstGeom>
          <a:solidFill>
            <a:srgbClr val="2467AE"/>
          </a:solidFill>
          <a:ln>
            <a:solidFill>
              <a:srgbClr val="24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81B4A"/>
                </a:solidFill>
              </a:defRPr>
            </a:pPr>
            <a:r>
              <a:t>Ludhiana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4599432"/>
            <a:ext cx="5486400" cy="201168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081B4A"/>
                </a:solidFill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4800600" y="4544568"/>
            <a:ext cx="320040" cy="320040"/>
          </a:xfrm>
          <a:prstGeom prst="roundRect">
            <a:avLst/>
          </a:prstGeom>
          <a:solidFill>
            <a:srgbClr val="2467AE"/>
          </a:solidFill>
          <a:ln>
            <a:solidFill>
              <a:srgbClr val="24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8412480" y="1828800"/>
            <a:ext cx="2468880" cy="2286000"/>
          </a:xfrm>
          <a:prstGeom prst="roundRect">
            <a:avLst/>
          </a:prstGeom>
          <a:solidFill>
            <a:srgbClr val="EEF5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81B4A"/>
                </a:solidFill>
              </a:defRPr>
            </a:pPr>
            <a:r>
              <a:t>Replacement rule</a:t>
            </a:r>
            <a:br/>
            <a:r>
              <a:t>Sign: products</a:t>
            </a:r>
            <a:br/>
            <a:r>
              <a:t>Materiality: local S_y</a:t>
            </a:r>
            <a:br/>
            <a:r>
              <a:t>Use: review cue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5332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E6A7D"/>
                </a:solidFill>
              </a:defRPr>
            </a:pPr>
            <a:r>
              <a:t>Editable storyboard: shapes and text can be modified in PowerPoint; final publication figures are vector SVG/PDF.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81B4A"/>
                </a:solidFill>
              </a:defRPr>
            </a:pPr>
            <a:r>
              <a:t>FIGURE 6 | ENGINEERING CONTEXT AND EVENT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081B4A"/>
                </a:solidFill>
              </a:defRPr>
            </a:pPr>
            <a:r>
              <a:t>Context support plus event-claim boundary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11521440" cy="5440680"/>
          </a:xfrm>
          <a:prstGeom prst="roundRect">
            <a:avLst/>
          </a:prstGeom>
          <a:solidFill>
            <a:srgbClr val="F8FAFE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81B4A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2194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81B4A"/>
                </a:solidFill>
              </a:defRPr>
            </a:pPr>
            <a:r>
              <a:t>engineering proxies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417320"/>
            <a:ext cx="2194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81B4A"/>
                </a:solidFill>
              </a:defRPr>
            </a:pPr>
            <a:r>
              <a:t>event ΔAUC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2194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81B4A"/>
                </a:solidFill>
              </a:defRPr>
            </a:pPr>
            <a:r>
              <a:t>protocol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417320"/>
            <a:ext cx="2194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81B4A"/>
                </a:solidFill>
              </a:defRPr>
            </a:pPr>
            <a:r>
              <a:t>non-regulatory 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94760"/>
            <a:ext cx="10241280" cy="914400"/>
          </a:xfrm>
          <a:prstGeom prst="roundRect">
            <a:avLst/>
          </a:prstGeom>
          <a:solidFill>
            <a:srgbClr val="FFF3F1"/>
          </a:solidFill>
          <a:ln>
            <a:solidFill>
              <a:srgbClr val="E8B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B51F2B"/>
                </a:solidFill>
              </a:defRPr>
            </a:pPr>
            <a:r>
              <a:t>Event benchmark is neutral/negative for broad dynamic superiority: use DGLS for pre-implementation review, not event prediction.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05332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E6A7D"/>
                </a:solidFill>
              </a:defRPr>
            </a:pPr>
            <a:r>
              <a:t>Editable storyboard: shapes and text can be modified in PowerPoint; final publication figures are vector SVG/PDF.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81B4A"/>
                </a:solidFill>
              </a:defRPr>
            </a:pPr>
            <a:r>
              <a:t>TABLE/BOX 1 | REVIEW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081B4A"/>
                </a:solidFill>
              </a:defRPr>
            </a:pPr>
            <a:r>
              <a:t>Editable protocol schematic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11521440" cy="5440680"/>
          </a:xfrm>
          <a:prstGeom prst="roundRect">
            <a:avLst/>
          </a:prstGeom>
          <a:solidFill>
            <a:srgbClr val="F8FAFE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81B4A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1325880" cy="640080"/>
          </a:xfrm>
          <a:prstGeom prst="roundRect">
            <a:avLst/>
          </a:prstGeom>
          <a:solidFill>
            <a:srgbClr val="081B4A"/>
          </a:solidFill>
          <a:ln>
            <a:solidFill>
              <a:srgbClr val="081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057400"/>
            <a:ext cx="1600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1B4A"/>
                </a:solidFill>
              </a:defRPr>
            </a:pPr>
            <a:r>
              <a:t>Eligibility screen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1325880"/>
            <a:ext cx="1325880" cy="640080"/>
          </a:xfrm>
          <a:prstGeom prst="roundRect">
            <a:avLst/>
          </a:prstGeom>
          <a:solidFill>
            <a:srgbClr val="2467AE"/>
          </a:solidFill>
          <a:ln>
            <a:solidFill>
              <a:srgbClr val="24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2057400"/>
            <a:ext cx="1600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1B4A"/>
                </a:solidFill>
              </a:defRPr>
            </a:pPr>
            <a:r>
              <a:t>Storage-direction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325880"/>
            <a:ext cx="1325880" cy="640080"/>
          </a:xfrm>
          <a:prstGeom prst="roundRect">
            <a:avLst/>
          </a:prstGeom>
          <a:solidFill>
            <a:srgbClr val="C84C3A"/>
          </a:solidFill>
          <a:ln>
            <a:solidFill>
              <a:srgbClr val="C8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2057400"/>
            <a:ext cx="1600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1B4A"/>
                </a:solidFill>
              </a:defRPr>
            </a:pPr>
            <a:r>
              <a:t>Screening-magnitude phase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1325880"/>
            <a:ext cx="1325880" cy="640080"/>
          </a:xfrm>
          <a:prstGeom prst="roundRect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2057400"/>
            <a:ext cx="1600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1B4A"/>
                </a:solidFill>
              </a:defRPr>
            </a:pPr>
            <a:r>
              <a:t>Coastal and leakage guardrail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325880"/>
            <a:ext cx="1325880" cy="640080"/>
          </a:xfrm>
          <a:prstGeom prst="roundRect">
            <a:avLst/>
          </a:prstGeom>
          <a:solidFill>
            <a:srgbClr val="2E7D3A"/>
          </a:solidFill>
          <a:ln>
            <a:solidFill>
              <a:srgbClr val="2E7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2057400"/>
            <a:ext cx="1600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1B4A"/>
                </a:solidFill>
              </a:defRPr>
            </a:pPr>
            <a:r>
              <a:t>Local hydrogeology replacement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325880"/>
            <a:ext cx="1325880" cy="640080"/>
          </a:xfrm>
          <a:prstGeom prst="roundRect">
            <a:avLst/>
          </a:prstGeom>
          <a:solidFill>
            <a:srgbClr val="2F9EB0"/>
          </a:solidFill>
          <a:ln>
            <a:solidFill>
              <a:srgbClr val="2F9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2057400"/>
            <a:ext cx="1600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1B4A"/>
                </a:solidFill>
              </a:defRPr>
            </a:pPr>
            <a:r>
              <a:t>Geotechnical translation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69880" y="1325880"/>
            <a:ext cx="1325880" cy="640080"/>
          </a:xfrm>
          <a:prstGeom prst="roundRect">
            <a:avLst/>
          </a:prstGeom>
          <a:solidFill>
            <a:srgbClr val="5E6A7D"/>
          </a:solidFill>
          <a:ln>
            <a:solidFill>
              <a:srgbClr val="5E6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7000" y="2057400"/>
            <a:ext cx="1600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8C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1B4A"/>
                </a:solidFill>
              </a:defRPr>
            </a:pPr>
            <a:r>
              <a:t>Governance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05332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E6A7D"/>
                </a:solidFill>
              </a:defRPr>
            </a:pPr>
            <a:r>
              <a:t>Editable storyboard: shapes and text can be modified in PowerPoint; final publication figures are vector SVG/PDF.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